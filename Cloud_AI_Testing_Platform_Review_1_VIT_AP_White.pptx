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0A0F"/>
                </a:solidFill>
                <a:latin typeface="Arial"/>
              </a:defRPr>
            </a:pPr>
            <a:r>
              <a:t>CLOUD-BASED AI SOFTWARE</a:t>
            </a:r>
          </a:p>
          <a:p>
            <a:pPr>
              <a:spcAft>
                <a:spcPts val="1000"/>
              </a:spcAft>
              <a:defRPr sz="3600" b="1">
                <a:solidFill>
                  <a:srgbClr val="0A0A0F"/>
                </a:solidFill>
                <a:latin typeface="Arial"/>
              </a:defRPr>
            </a:pPr>
            <a:r>
              <a:t>TESTING PLATFORM</a:t>
            </a:r>
          </a:p>
          <a:p>
            <a:pPr>
              <a:defRPr sz="1800" b="1">
                <a:solidFill>
                  <a:srgbClr val="50505F"/>
                </a:solidFill>
                <a:latin typeface="Inter"/>
              </a:defRPr>
            </a:pPr>
            <a:r>
              <a:t>Cloud Computing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23MIC7176  —  Tarun govardhan</a:t>
            </a:r>
          </a:p>
          <a:p>
            <a:pPr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23MIC7202  —  sharan rao</a:t>
            </a:r>
          </a:p>
          <a:p>
            <a:pPr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23MIS7297  —  J Ravindra</a:t>
            </a:r>
          </a:p>
          <a:p>
            <a:pPr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23MIS7257  —  N Kartheek</a:t>
            </a:r>
          </a:p>
          <a:p>
            <a:pPr>
              <a:spcAft>
                <a:spcPts val="400"/>
              </a:spcAft>
              <a:defRPr sz="1250" b="1">
                <a:solidFill>
                  <a:srgbClr val="0A0A0F"/>
                </a:solidFill>
              </a:defRPr>
            </a:pPr>
            <a:r>
              <a:t>23MIS7229  —  Pardhasaradhi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754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F"/>
                </a:solidFill>
              </a:defRPr>
            </a:pPr>
            <a:r>
              <a:t>Guided by — [Dr. Shaik Kareemulla]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A cloud-native platform to analyze, generate, and execute software unit tests without managing servers.</a:t>
            </a:r>
          </a:p>
          <a:p>
            <a:pPr>
              <a:spcAft>
                <a:spcPts val="3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Uses AI models (LLMs) and containerized sandboxes for automated unit test synthesis and execution.</a:t>
            </a:r>
          </a:p>
          <a:p>
            <a:pPr>
              <a:spcAft>
                <a:spcPts val="3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Supports Java Maven projects, automated JUnit 5 test writing, and isolated container test runs.</a:t>
            </a:r>
          </a:p>
          <a:p>
            <a:pPr>
              <a:spcAft>
                <a:spcPts val="300"/>
              </a:spcAft>
              <a:defRPr sz="135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50">
                <a:solidFill>
                  <a:srgbClr val="50505F"/>
                </a:solidFill>
                <a:latin typeface="Inter"/>
              </a:defRPr>
            </a:pPr>
            <a:r>
              <a:t>• Provides project ZIP upload, automated AI test generation, container sandbox execution, failure analysis, and live 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350">
                <a:solidFill>
                  <a:srgbClr val="0A0A0F"/>
                </a:solidFill>
                <a:latin typeface="Inter"/>
              </a:defRPr>
            </a:pPr>
            <a:r>
              <a:t>Traditional software testing involves manual test case creation, local execution drift, and uninformative error traces.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KEY CHALLENGES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Manual unit test writing is slow, repetitive, and labor-intensive.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Difficulty identifying edge cases and boundary conditions manually.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Environment dependency drift on local developer workstations.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Uninformative stack traces without automated root-cause explanations.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Need for scalable containerized execution during peak test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1. Automate Test Generation — Synthesize JUnit 5 test cases using AI models.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2. Simplify Project Ingestion — Extract Java project archives safely with Zip-Slip protection.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3. Containerized Sandbox Runner — Execute test builds in isolated Docker / ECS Fargate environments.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4. Automate Failure Diagnostics — Parse build logs and stack traces to provide AI code fixes.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5. Provide Developer Analytics — Show test pass rates, coverage metrics, and live stdout log streams.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6. Demonstrate Cloud Architecture — Build a scalable platform using AWS S3, RDS, and serverless compute.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ARCHITECTURAL DIAGRAM</a:t>
            </a:r>
          </a:p>
        </p:txBody>
      </p:sp>
      <p:sp>
        <p:nvSpPr>
          <p:cNvPr id="4" name="Oval 3"/>
          <p:cNvSpPr/>
          <p:nvPr/>
        </p:nvSpPr>
        <p:spPr>
          <a:xfrm>
            <a:off x="4846320" y="1371600"/>
            <a:ext cx="2468880" cy="731520"/>
          </a:xfrm>
          <a:prstGeom prst="ellipse">
            <a:avLst/>
          </a:prstGeom>
          <a:solidFill>
            <a:srgbClr val="FEEBB2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A0A0F"/>
                </a:solidFill>
              </a:defRPr>
            </a:pPr>
            <a:r>
              <a:t>Web / React UI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97880" y="2148840"/>
            <a:ext cx="365760" cy="274320"/>
          </a:xfrm>
          <a:prstGeom prst="down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2468880"/>
            <a:ext cx="6309360" cy="548640"/>
          </a:xfrm>
          <a:prstGeom prst="roundRect">
            <a:avLst/>
          </a:prstGeom>
          <a:solidFill>
            <a:srgbClr val="CCF0EB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F"/>
                </a:solidFill>
              </a:defRPr>
            </a:pPr>
            <a:r>
              <a:t>Spring Boot REST API Gateway (Zip-Slip Security Check)</a:t>
            </a:r>
          </a:p>
        </p:txBody>
      </p:sp>
      <p:sp>
        <p:nvSpPr>
          <p:cNvPr id="7" name="Diamond 6"/>
          <p:cNvSpPr/>
          <p:nvPr/>
        </p:nvSpPr>
        <p:spPr>
          <a:xfrm>
            <a:off x="5760720" y="3063240"/>
            <a:ext cx="640080" cy="36576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0F"/>
                </a:solidFill>
              </a:defRPr>
            </a:pPr>
            <a:r>
              <a:t>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474720"/>
            <a:ext cx="3017520" cy="1005840"/>
          </a:xfrm>
          <a:prstGeom prst="rect">
            <a:avLst/>
          </a:prstGeom>
          <a:solidFill>
            <a:srgbClr val="FCD7D7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A0A0F"/>
                </a:solidFill>
              </a:defRPr>
            </a:pPr>
            <a:r>
              <a:t>AWS Bedrock AI Engine</a:t>
            </a:r>
            <a:br/>
            <a:r>
              <a:t>(AST &amp; JUnit 5 Generator)</a:t>
            </a:r>
          </a:p>
        </p:txBody>
      </p:sp>
      <p:sp>
        <p:nvSpPr>
          <p:cNvPr id="9" name="Can 8"/>
          <p:cNvSpPr/>
          <p:nvPr/>
        </p:nvSpPr>
        <p:spPr>
          <a:xfrm>
            <a:off x="1371600" y="3474720"/>
            <a:ext cx="2103120" cy="685800"/>
          </a:xfrm>
          <a:prstGeom prst="can">
            <a:avLst/>
          </a:prstGeom>
          <a:solidFill>
            <a:srgbClr val="FED7AA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Docker Runner</a:t>
            </a:r>
          </a:p>
        </p:txBody>
      </p:sp>
      <p:sp>
        <p:nvSpPr>
          <p:cNvPr id="10" name="Hexagon 9"/>
          <p:cNvSpPr/>
          <p:nvPr/>
        </p:nvSpPr>
        <p:spPr>
          <a:xfrm>
            <a:off x="1097280" y="4434840"/>
            <a:ext cx="2651760" cy="685800"/>
          </a:xfrm>
          <a:prstGeom prst="hexagon">
            <a:avLst/>
          </a:prstGeom>
          <a:solidFill>
            <a:srgbClr val="DCF5DC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CloudWatch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474720"/>
            <a:ext cx="2377440" cy="685800"/>
          </a:xfrm>
          <a:prstGeom prst="roundRect">
            <a:avLst/>
          </a:prstGeom>
          <a:solidFill>
            <a:srgbClr val="E6DCF5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AI Diagnostics &amp; Fixes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434840"/>
            <a:ext cx="2377440" cy="685800"/>
          </a:xfrm>
          <a:prstGeom prst="roundRect">
            <a:avLst/>
          </a:prstGeom>
          <a:solidFill>
            <a:srgbClr val="E6DCF5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A0A0F"/>
                </a:solidFill>
              </a:defRPr>
            </a:pPr>
            <a:r>
              <a:t>AWS S3 &amp; RDS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3200400"/>
            <a:ext cx="1188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0A0F"/>
                </a:solidFill>
              </a:defRPr>
            </a:pPr>
            <a:r>
              <a:t>Cloud-Native</a:t>
            </a:r>
            <a:br/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0505F"/>
                </a:solidFill>
              </a:defRPr>
            </a:pPr>
            <a:r>
              <a:t>https://www.researchgate.net/figure/A-sample-event-driven-serverless-architecture_fig1_379564079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200">
                <a:solidFill>
                  <a:srgbClr val="0A0A0F"/>
                </a:solidFill>
                <a:latin typeface="Inter"/>
              </a:defRPr>
            </a:pPr>
            <a:r>
              <a:t>KEY AREAS REVIEWED</a:t>
            </a:r>
          </a:p>
          <a:p>
            <a:pPr>
              <a:spcAft>
                <a:spcPts val="300"/>
              </a:spcAft>
              <a:defRPr sz="120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Automated Unit Testing — Frameworks like JUnit 5 automate test execution but require manual test writing.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AI Code Generation — LLMs can synthesize unit test assertions from source code AST context.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Container Sandboxing — Docker provides isolated, reproducible build execution environments.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Cloud Storage — Amazon S3 provides durable storage for project archives and generated test reports.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Cloud Monitoring — CloudWatch and RDS enable continuous telemetry and execution tracking.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Gap / Motivation — Existing tools focus on either test running or standalone AI generation; this project integrates AI synthesis, container execution, and automated failure diagnostics into a unified cloud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1: USER &amp; PROJECT MANAGEMENT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Participant, Developer, and Admin access roles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Project ZIP upload and source file tree explorer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Canonical path validation (Zip-Slip security protection)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2: AI TEST GENERATION ENGINE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Extract Java class structures, methods, imports, and parameters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Synthesize positive, negative, and edge-case JUnit 5 test suites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Format generated test code for seamless Maven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3: CONTAINERIZED EXECUTION SANDBOX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Spawns isolated Docker / ECS Fargate build containers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Executes 'mvn clean test' in sandboxed environments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Prevents host system pollution and runtime dependency conflicts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4: FAILURE DIAGNOSTICS &amp; AI FIXES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Captures Maven compiler errors and Surefire execution logs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Analyzes stack traces to determine root-cause failure reasons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Generates one-click automated code refactoring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5: LIVE ANALYTICS &amp; DASHBOARD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Real-time terminal log streaming to React web UI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Test pass/fail percentage and execution metrics summary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Interactive code diff viewer for suggested AI 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MODULE 6: CLOUD &amp; DATABASE MONITORING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AWS S3 storage for project ZIPs and test report artifacts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AWS RDS PostgreSQL for execution history telemetry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AWS CloudWatch logging and security IAM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250">
                <a:solidFill>
                  <a:srgbClr val="0A0A0F"/>
                </a:solidFill>
                <a:latin typeface="Inter"/>
              </a:defRPr>
            </a:pPr>
            <a:r>
              <a:t>CURRENT STATUS — REVIEW 1</a:t>
            </a:r>
          </a:p>
          <a:p>
            <a:pPr>
              <a:spcAft>
                <a:spcPts val="300"/>
              </a:spcAft>
              <a:defRPr sz="125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Project topic and problem statement finalized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System objectives and user roles identified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Serverless / containerized AWS architecture designed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Core modules and feature flow planned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AWS services mapped to project requirements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Initial technology stack selected: React, Spring Boot, AWS Bedrock, Docker, AWS S3 &amp; RDS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Next focus: implement core APIs, database schema, and test generation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1 — FOUNDATION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Create AWS cloud resources and configure IAM permissions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Set up PostgreSQL database tables and S3 storage buckets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Create React frontend structure and basic dashboard screens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2 — CORE BACKEND &amp; AI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Spring Boot REST API endpoints and ZIP extractor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Integrate AWS Bedrock LLM API for Java AST test synthesis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Connect React frontend to backend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PLAN OF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3 — SANDBOX &amp; DIAGNOSTICS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Build Docker container sandbox test runner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Parse Surefire build logs and stack traces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Implement AI failure diagnosis and code refactoring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A0A0F"/>
                </a:solidFill>
                <a:latin typeface="Arial"/>
              </a:defRPr>
            </a:pPr>
            <a:r>
              <a:t>PHASE 4 — TESTING &amp; DEPLOYMENT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Test end-to-end project upload, generation, and execution flows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Deploy backend APIs and frontend to AWS Cloud (ECS Fargate / S3)</a:t>
            </a:r>
          </a:p>
          <a:p>
            <a:pPr>
              <a:spcAft>
                <a:spcPts val="300"/>
              </a:spcAft>
              <a:defRPr sz="1200">
                <a:solidFill>
                  <a:srgbClr val="50505F"/>
                </a:solidFill>
                <a:latin typeface="Inter"/>
              </a:defRPr>
            </a:pPr>
            <a:r>
              <a:t>• Add CloudWatch telemetry and final analytics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The proposed system provides end-to-end automated software testing using a cloud AI architecture.</a:t>
            </a:r>
          </a:p>
          <a:p>
            <a:pPr>
              <a:spcAft>
                <a:spcPts val="3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AI test synthesis reduces manual test creation effort while increasing edge-case coverage.</a:t>
            </a:r>
          </a:p>
          <a:p>
            <a:pPr>
              <a:spcAft>
                <a:spcPts val="3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Docker container sandboxes guarantee reproducible execution without local environment drift.</a:t>
            </a:r>
          </a:p>
          <a:p>
            <a:pPr>
              <a:spcAft>
                <a:spcPts val="3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AWS S3 and RDS provide managed storage for project files and execution telemetry.</a:t>
            </a:r>
          </a:p>
          <a:p>
            <a:pPr>
              <a:spcAft>
                <a:spcPts val="300"/>
              </a:spcAft>
              <a:defRPr sz="1300">
                <a:solidFill>
                  <a:srgbClr val="0A0A0F"/>
                </a:solidFill>
                <a:latin typeface="Inter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50505F"/>
                </a:solidFill>
                <a:latin typeface="Inter"/>
              </a:defRPr>
            </a:pPr>
            <a:r>
              <a:t>• Automated failure diagnostics and code repair improve overall developer productivity.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347472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0A0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1. JUnit 5 User Guide &amp; Documentation — https://junit.org/junit5/docs/current/user-guide/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2. Spring Boot Framework Reference — https://docs.spring.io/spring-boot/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3. AWS Bedrock Foundation Models — https://docs.aws.amazon.com/bedrock/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4. AWS ECS Fargate User Guide — https://docs.aws.amazon.com/AmazonECS/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5. Docker Container Isolation Overview — https://docs.docker.com/get-started/overview/</a:t>
            </a:r>
          </a:p>
          <a:p>
            <a:pPr>
              <a:spcAft>
                <a:spcPts val="300"/>
              </a:spcAft>
              <a:defRPr sz="1250">
                <a:solidFill>
                  <a:srgbClr val="50505F"/>
                </a:solidFill>
                <a:latin typeface="Inter"/>
              </a:defRPr>
            </a:pPr>
            <a:r>
              <a:t>• 6. S. Bareiß et al., 'Code Generation Tools in Software Testing: A Survey,' IEEE TSE, 2023.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8286698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0A0A0F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1800" b="1">
                <a:solidFill>
                  <a:srgbClr val="50505F"/>
                </a:solidFill>
                <a:latin typeface="Inter"/>
              </a:defRPr>
            </a:pPr>
            <a:r>
              <a:t>Questions and discussion welcome.</a:t>
            </a:r>
          </a:p>
          <a:p>
            <a:pPr>
              <a:defRPr sz="1300">
                <a:solidFill>
                  <a:srgbClr val="50505F"/>
                </a:solidFill>
              </a:defRPr>
            </a:pPr>
            <a:r>
              <a:t>Cloud-Based AI Software Testing Platform — Review 1</a:t>
            </a:r>
            <a:br/>
            <a:r>
              <a:t>Department of Computer Science &amp; Engineering | VIT-AP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05F"/>
                </a:solidFill>
                <a:latin typeface="Inter"/>
              </a:defRPr>
            </a:pPr>
            <a:r>
              <a:t>Cloud-Based AI Software Testing Platform   |   Review 1</a:t>
            </a:r>
          </a:p>
          <a:p>
            <a:pPr algn="r">
              <a:defRPr sz="1000" b="1">
                <a:solidFill>
                  <a:srgbClr val="0A0A0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